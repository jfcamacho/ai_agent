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59" r:id="rId9"/>
    <p:sldId id="260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072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 PARA HUNTING DE ALIANZAS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60604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búsqueda manual de prospectos a un embudo de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prospección, contacto y supervisión operado por IA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Inter.mx  ·  Alianzas Estratégicas  ·  Propuesta de proyecto  ·  2026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27346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3492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51937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371600" y="546811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Prospección y Contacto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989320" y="50749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27346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53492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20840" y="51937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720840" y="54681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dolor hoy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persona sostiene todo el embudo de alianzas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28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prospectos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2130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asambleas, cursos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880360" y="2578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71216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7238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626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3310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y LinkedIn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880360" y="375818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050792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519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142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cita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17320" y="44897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manual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2880360" y="49377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5230368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431536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5321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 implementar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417320" y="5669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 + puesta en marcha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23620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persona repite este ciclo una y otra vez, para cada prospecto nuevo, sin dejar de dar seguimiento a los que ya están en proceso.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943600" y="1691640"/>
            <a:ext cx="5669280" cy="210312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192024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03720" y="18745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mes</a:t>
            </a:r>
            <a:endParaRPr lang="en-US" sz="3400" dirty="0"/>
          </a:p>
        </p:txBody>
      </p:sp>
      <p:sp>
        <p:nvSpPr>
          <p:cNvPr id="27" name="Text 20"/>
          <p:cNvSpPr/>
          <p:nvPr/>
        </p:nvSpPr>
        <p:spPr>
          <a:xfrm>
            <a:off x="6903720" y="2423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buscar, contactar y agendar una sola cita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263640" y="2880360"/>
            <a:ext cx="5074920" cy="0"/>
          </a:xfrm>
          <a:prstGeom prst="line">
            <a:avLst/>
          </a:prstGeom>
          <a:noFill/>
          <a:ln w="12700">
            <a:solidFill>
              <a:srgbClr val="3D4A8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2"/>
          <p:cNvSpPr/>
          <p:nvPr/>
        </p:nvSpPr>
        <p:spPr>
          <a:xfrm>
            <a:off x="6903720" y="29718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 meses</a:t>
            </a:r>
            <a:endParaRPr lang="en-US" sz="3000" dirty="0"/>
          </a:p>
        </p:txBody>
      </p:sp>
      <p:sp>
        <p:nvSpPr>
          <p:cNvPr id="30" name="Text 23"/>
          <p:cNvSpPr/>
          <p:nvPr/>
        </p:nvSpPr>
        <p:spPr>
          <a:xfrm>
            <a:off x="6903720" y="3474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ciclo completo hasta cerrar una alianza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5989320" y="379476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041648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4005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 escala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6263640" y="452628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cubre investigación, contacto, agendamiento, cierre e implementación al mismo tiempo.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volumen de alianzas solo es posible si se contrata más gente para el mismo proceso manual.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ausencia o rotación detiene por completo la generación de nuevas alianzas.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agentes de IA, un embudo de hunting sin cuellos de botella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14416" cy="4160520"/>
          </a:xfrm>
          <a:prstGeom prst="roundRect">
            <a:avLst>
              <a:gd name="adj" fmla="val 2250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1952244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105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5065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1: Hunter-Orquestador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127248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Prospección + Outreach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493008"/>
            <a:ext cx="5065776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822960" y="3639312"/>
            <a:ext cx="50657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Prospecta de forma continua en LinkedIn, asambleas y cursos, identificando y cualificando contactos con perfil de alianza.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 por correo y LinkedIn (no WhatsApp, salvo que el prospecto lo comparta) y da seguimiento a cada conversación.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la cita directo en la agenda del Hunter humano.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el pipeline sin límite de horas-persona.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19088" y="1508760"/>
            <a:ext cx="3657600" cy="4160520"/>
          </a:xfrm>
          <a:prstGeom prst="roundRect">
            <a:avLst>
              <a:gd name="adj" fmla="val 2250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6693408" y="17830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572" y="1952244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653528" y="18105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2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693408" y="2743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2: Supervisor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6693408" y="3127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 y cartera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693408" y="3493008"/>
            <a:ext cx="310896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2"/>
          <p:cNvSpPr/>
          <p:nvPr/>
        </p:nvSpPr>
        <p:spPr>
          <a:xfrm>
            <a:off x="6693408" y="3639312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el Agente 1 ejecute sus actividades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al gerente citas y temas relevantes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la efectividad del Agente 1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más citas y alianzas al mes, y el Hunter humano enfocado en cerrar e implementar — no en buscar y contactar.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desempeño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medimos el éxito de cada agente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14416" cy="4160520"/>
          </a:xfrm>
          <a:prstGeom prst="roundRect">
            <a:avLst>
              <a:gd name="adj" fmla="val 2250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1952244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105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5065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1: Hunter-Orquestador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127248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Prospección + Outreach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493008"/>
            <a:ext cx="5065776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822960" y="3639312"/>
            <a:ext cx="50657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</a:rPr>
              <a:t>Volumen de leads / semana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6B7385"/>
                </a:solidFill>
                <a:latin typeface="Calibri" pitchFamily="34" charset="0"/>
              </a:rPr>
              <a:t>Cantidad neta de leads perfilados y contactados dentro del mercado objetivo.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</a:rPr>
              <a:t>Tasa de respuesta y citas agendadas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6B7385"/>
                </a:solidFill>
                <a:latin typeface="Calibri" pitchFamily="34" charset="0"/>
              </a:rPr>
              <a:t>% de prospectos contactados que responden y agendan cita exploratoria.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</a:rPr>
              <a:t>Exactitud de datos en CRM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B7385"/>
                </a:solidFill>
                <a:latin typeface="Calibri" pitchFamily="34" charset="0"/>
              </a:rPr>
              <a:t>Campos completados sin discrepancias (meta &gt;99.9%).</a:t>
            </a:r>
          </a:p>
        </p:txBody>
      </p:sp>
      <p:sp>
        <p:nvSpPr>
          <p:cNvPr id="20" name="Shape 16"/>
          <p:cNvSpPr/>
          <p:nvPr/>
        </p:nvSpPr>
        <p:spPr>
          <a:xfrm>
            <a:off x="6419088" y="1508760"/>
            <a:ext cx="3657600" cy="4160520"/>
          </a:xfrm>
          <a:prstGeom prst="roundRect">
            <a:avLst>
              <a:gd name="adj" fmla="val 2250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6693408" y="17830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572" y="1952244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653528" y="18105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2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693408" y="2743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2: Supervisor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6693408" y="3127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 y cartera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693408" y="3493008"/>
            <a:ext cx="310896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2"/>
          <p:cNvSpPr/>
          <p:nvPr/>
        </p:nvSpPr>
        <p:spPr>
          <a:xfrm>
            <a:off x="6693408" y="3639312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</a:rPr>
              <a:t>Entrega de reportes (SLA)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6B7385"/>
                </a:solidFill>
                <a:latin typeface="Calibri" pitchFamily="34" charset="0"/>
              </a:rPr>
              <a:t>Generación instantánea o programada, sin retrasos cronológicos.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</a:rPr>
              <a:t>Falsos positivos en alertas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6B7385"/>
                </a:solidFill>
                <a:latin typeface="Calibri" pitchFamily="34" charset="0"/>
              </a:rPr>
              <a:t>Precisión al identificar cuentas en riesgo real de incidencia.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</a:rPr>
              <a:t>Integridad del dataset financiero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B7385"/>
                </a:solidFill>
                <a:latin typeface="Calibri" pitchFamily="34" charset="0"/>
              </a:rPr>
              <a:t>Consistencia de la información exportada a sistemas directivos.</a:t>
            </a:r>
          </a:p>
        </p:txBody>
      </p:sp>
      <p:sp>
        <p:nvSpPr>
          <p:cNvPr id="28" name="Text 2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métrica alimenta el reporte semanal del Agente 2 (Supervisor) a la gerencia de hunting.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tan automatizable es cada fuente de prospección</a:t>
            </a:r>
            <a:endParaRPr lang="en-US" sz="2700" dirty="0"/>
          </a:p>
        </p:txBody>
      </p:sp>
      <p:sp>
        <p:nvSpPr>
          <p:cNvPr id="4" name="Text H1"/>
          <p:cNvSpPr/>
          <p:nvPr/>
        </p:nvSpPr>
        <p:spPr>
          <a:xfrm>
            <a:off x="548640" y="1350000"/>
            <a:ext cx="4300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INFORMACIÓN</a:t>
            </a:r>
            <a:endParaRPr lang="en-US" sz="1050" dirty="0"/>
          </a:p>
        </p:txBody>
      </p:sp>
      <p:sp>
        <p:nvSpPr>
          <p:cNvPr id="5" name="Text H2"/>
          <p:cNvSpPr/>
          <p:nvPr/>
        </p:nvSpPr>
        <p:spPr>
          <a:xfrm>
            <a:off x="5000000" y="1350000"/>
            <a:ext cx="1700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</a:t>
            </a:r>
            <a:endParaRPr lang="en-US" sz="1050" dirty="0"/>
          </a:p>
        </p:txBody>
      </p:sp>
      <p:sp>
        <p:nvSpPr>
          <p:cNvPr id="6" name="Text H3"/>
          <p:cNvSpPr/>
          <p:nvPr/>
        </p:nvSpPr>
        <p:spPr>
          <a:xfrm>
            <a:off x="6850000" y="1350000"/>
            <a:ext cx="47933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 EJECUCIÓN POR LA IA</a:t>
            </a:r>
            <a:endParaRPr lang="en-US" sz="1050" dirty="0"/>
          </a:p>
        </p:txBody>
      </p:sp>
      <p:sp>
        <p:nvSpPr>
          <p:cNvPr id="7" name="Shape HL"/>
          <p:cNvSpPr/>
          <p:nvPr/>
        </p:nvSpPr>
        <p:spPr>
          <a:xfrm>
            <a:off x="548640" y="1670000"/>
            <a:ext cx="110947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F0"/>
          <p:cNvSpPr/>
          <p:nvPr/>
        </p:nvSpPr>
        <p:spPr>
          <a:xfrm>
            <a:off x="548640" y="1780000"/>
            <a:ext cx="430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Sales Navigator</a:t>
            </a:r>
            <a:endParaRPr lang="en-US" sz="1200" dirty="0"/>
          </a:p>
        </p:txBody>
      </p:sp>
      <p:sp>
        <p:nvSpPr>
          <p:cNvPr id="9" name="Badge0"/>
          <p:cNvSpPr/>
          <p:nvPr/>
        </p:nvSpPr>
        <p:spPr>
          <a:xfrm>
            <a:off x="5000000" y="1920000"/>
            <a:ext cx="1350000" cy="3400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</a:rPr>
              <a:t>VIABLE</a:t>
            </a:r>
            <a:endParaRPr lang="en-US" sz="1000" dirty="0"/>
          </a:p>
        </p:txBody>
      </p:sp>
      <p:sp>
        <p:nvSpPr>
          <p:cNvPr id="10" name="Text E0"/>
          <p:cNvSpPr/>
          <p:nvPr/>
        </p:nvSpPr>
        <p:spPr>
          <a:xfrm>
            <a:off x="6850000" y="1780000"/>
            <a:ext cx="479336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 hace scraping/RPA autorizado y redacta mensajes personalizados de prospección</a:t>
            </a:r>
            <a:endParaRPr lang="en-US" sz="1100" dirty="0"/>
          </a:p>
        </p:txBody>
      </p:sp>
      <p:sp>
        <p:nvSpPr>
          <p:cNvPr id="11" name="Div0"/>
          <p:cNvSpPr/>
          <p:nvPr/>
        </p:nvSpPr>
        <p:spPr>
          <a:xfrm>
            <a:off x="548640" y="2420000"/>
            <a:ext cx="11094720" cy="0"/>
          </a:xfrm>
          <a:prstGeom prst="line">
            <a:avLst/>
          </a:prstGeom>
          <a:noFill/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F1"/>
          <p:cNvSpPr/>
          <p:nvPr/>
        </p:nvSpPr>
        <p:spPr>
          <a:xfrm>
            <a:off x="548640" y="2440000"/>
            <a:ext cx="430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Selling (clientes actuales)</a:t>
            </a:r>
            <a:endParaRPr lang="en-US" sz="1200" dirty="0"/>
          </a:p>
        </p:txBody>
      </p:sp>
      <p:sp>
        <p:nvSpPr>
          <p:cNvPr id="13" name="Badge1"/>
          <p:cNvSpPr/>
          <p:nvPr/>
        </p:nvSpPr>
        <p:spPr>
          <a:xfrm>
            <a:off x="5000000" y="2580000"/>
            <a:ext cx="1350000" cy="3400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</a:rPr>
              <a:t>VIABLE</a:t>
            </a:r>
            <a:endParaRPr lang="en-US" sz="1000" dirty="0"/>
          </a:p>
        </p:txBody>
      </p:sp>
      <p:sp>
        <p:nvSpPr>
          <p:cNvPr id="14" name="Text E1"/>
          <p:cNvSpPr/>
          <p:nvPr/>
        </p:nvSpPr>
        <p:spPr>
          <a:xfrm>
            <a:off x="6850000" y="2440000"/>
            <a:ext cx="479336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 y Agente 2 cruzan CRM/ERP contra matrices de propensión de compra</a:t>
            </a:r>
            <a:endParaRPr lang="en-US" sz="1100" dirty="0"/>
          </a:p>
        </p:txBody>
      </p:sp>
      <p:sp>
        <p:nvSpPr>
          <p:cNvPr id="15" name="Div1"/>
          <p:cNvSpPr/>
          <p:nvPr/>
        </p:nvSpPr>
        <p:spPr>
          <a:xfrm>
            <a:off x="548640" y="3080000"/>
            <a:ext cx="11094720" cy="0"/>
          </a:xfrm>
          <a:prstGeom prst="line">
            <a:avLst/>
          </a:prstGeom>
          <a:noFill/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F2"/>
          <p:cNvSpPr/>
          <p:nvPr/>
        </p:nvSpPr>
        <p:spPr>
          <a:xfrm>
            <a:off x="548640" y="3100000"/>
            <a:ext cx="430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Referidos internos (directores/áreas)</a:t>
            </a:r>
            <a:endParaRPr lang="en-US" sz="1200" dirty="0"/>
          </a:p>
        </p:txBody>
      </p:sp>
      <p:sp>
        <p:nvSpPr>
          <p:cNvPr id="17" name="Badge2"/>
          <p:cNvSpPr/>
          <p:nvPr/>
        </p:nvSpPr>
        <p:spPr>
          <a:xfrm>
            <a:off x="5000000" y="3240000"/>
            <a:ext cx="1350000" cy="340000"/>
          </a:xfrm>
          <a:prstGeom prst="roundRect">
            <a:avLst>
              <a:gd name="adj" fmla="val 50000"/>
            </a:avLst>
          </a:prstGeom>
          <a:solidFill>
            <a:srgbClr val="D98C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</a:rPr>
              <a:t>PARCIAL</a:t>
            </a:r>
            <a:endParaRPr lang="en-US" sz="1000" dirty="0"/>
          </a:p>
        </p:txBody>
      </p:sp>
      <p:sp>
        <p:nvSpPr>
          <p:cNvPr id="18" name="Text E2"/>
          <p:cNvSpPr/>
          <p:nvPr/>
        </p:nvSpPr>
        <p:spPr>
          <a:xfrm>
            <a:off x="6850000" y="3100000"/>
            <a:ext cx="479336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 estructura el lead vía formulario web o bot interno en Slack/Teams</a:t>
            </a:r>
            <a:endParaRPr lang="en-US" sz="1100" dirty="0"/>
          </a:p>
        </p:txBody>
      </p:sp>
      <p:sp>
        <p:nvSpPr>
          <p:cNvPr id="19" name="Div2"/>
          <p:cNvSpPr/>
          <p:nvPr/>
        </p:nvSpPr>
        <p:spPr>
          <a:xfrm>
            <a:off x="548640" y="3740000"/>
            <a:ext cx="11094720" cy="0"/>
          </a:xfrm>
          <a:prstGeom prst="line">
            <a:avLst/>
          </a:prstGeom>
          <a:noFill/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F3"/>
          <p:cNvSpPr/>
          <p:nvPr/>
        </p:nvSpPr>
        <p:spPr>
          <a:xfrm>
            <a:off x="548640" y="3760000"/>
            <a:ext cx="430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Referidos de clientes y socios</a:t>
            </a:r>
            <a:endParaRPr lang="en-US" sz="1200" dirty="0"/>
          </a:p>
        </p:txBody>
      </p:sp>
      <p:sp>
        <p:nvSpPr>
          <p:cNvPr id="21" name="Badge3"/>
          <p:cNvSpPr/>
          <p:nvPr/>
        </p:nvSpPr>
        <p:spPr>
          <a:xfrm>
            <a:off x="5000000" y="3900000"/>
            <a:ext cx="1350000" cy="340000"/>
          </a:xfrm>
          <a:prstGeom prst="roundRect">
            <a:avLst>
              <a:gd name="adj" fmla="val 50000"/>
            </a:avLst>
          </a:prstGeom>
          <a:solidFill>
            <a:srgbClr val="D98C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</a:rPr>
              <a:t>PARCIAL</a:t>
            </a:r>
            <a:endParaRPr lang="en-US" sz="1000" dirty="0"/>
          </a:p>
        </p:txBody>
      </p:sp>
      <p:sp>
        <p:nvSpPr>
          <p:cNvPr id="22" name="Text E3"/>
          <p:cNvSpPr/>
          <p:nvPr/>
        </p:nvSpPr>
        <p:spPr>
          <a:xfrm>
            <a:off x="6850000" y="3760000"/>
            <a:ext cx="479336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 automatiza la solicitud de referidos e integra portales de partners</a:t>
            </a:r>
            <a:endParaRPr lang="en-US" sz="1100" dirty="0"/>
          </a:p>
        </p:txBody>
      </p:sp>
      <p:sp>
        <p:nvSpPr>
          <p:cNvPr id="23" name="Div3"/>
          <p:cNvSpPr/>
          <p:nvPr/>
        </p:nvSpPr>
        <p:spPr>
          <a:xfrm>
            <a:off x="548640" y="4400000"/>
            <a:ext cx="11094720" cy="0"/>
          </a:xfrm>
          <a:prstGeom prst="line">
            <a:avLst/>
          </a:prstGeom>
          <a:noFill/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F4"/>
          <p:cNvSpPr/>
          <p:nvPr/>
        </p:nvSpPr>
        <p:spPr>
          <a:xfrm>
            <a:off x="548640" y="4420000"/>
            <a:ext cx="430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Licitaciones y RFI/RFP corporativas</a:t>
            </a:r>
            <a:endParaRPr lang="en-US" sz="1200" dirty="0"/>
          </a:p>
        </p:txBody>
      </p:sp>
      <p:sp>
        <p:nvSpPr>
          <p:cNvPr id="25" name="Badge4"/>
          <p:cNvSpPr/>
          <p:nvPr/>
        </p:nvSpPr>
        <p:spPr>
          <a:xfrm>
            <a:off x="5000000" y="4560000"/>
            <a:ext cx="1350000" cy="3400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</a:rPr>
              <a:t>VIABLE</a:t>
            </a:r>
            <a:endParaRPr lang="en-US" sz="1000" dirty="0"/>
          </a:p>
        </p:txBody>
      </p:sp>
      <p:sp>
        <p:nvSpPr>
          <p:cNvPr id="26" name="Text E4"/>
          <p:cNvSpPr/>
          <p:nvPr/>
        </p:nvSpPr>
        <p:spPr>
          <a:xfrm>
            <a:off x="6850000" y="4420000"/>
            <a:ext cx="479336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 monitorea portales (Compranet) y extrae los pliegos mediante OCR</a:t>
            </a:r>
            <a:endParaRPr lang="en-US" sz="1100" dirty="0"/>
          </a:p>
        </p:txBody>
      </p:sp>
      <p:sp>
        <p:nvSpPr>
          <p:cNvPr id="27" name="Div4"/>
          <p:cNvSpPr/>
          <p:nvPr/>
        </p:nvSpPr>
        <p:spPr>
          <a:xfrm>
            <a:off x="548640" y="5060000"/>
            <a:ext cx="11094720" cy="0"/>
          </a:xfrm>
          <a:prstGeom prst="line">
            <a:avLst/>
          </a:prstGeom>
          <a:noFill/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F5"/>
          <p:cNvSpPr/>
          <p:nvPr/>
        </p:nvSpPr>
        <p:spPr>
          <a:xfrm>
            <a:off x="548640" y="5080000"/>
            <a:ext cx="430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en eventos financieros/tech</a:t>
            </a:r>
            <a:endParaRPr lang="en-US" sz="1200" dirty="0"/>
          </a:p>
        </p:txBody>
      </p:sp>
      <p:sp>
        <p:nvSpPr>
          <p:cNvPr id="29" name="Badge5"/>
          <p:cNvSpPr/>
          <p:nvPr/>
        </p:nvSpPr>
        <p:spPr>
          <a:xfrm>
            <a:off x="5000000" y="5220000"/>
            <a:ext cx="1350000" cy="340000"/>
          </a:xfrm>
          <a:prstGeom prst="roundRect">
            <a:avLst>
              <a:gd name="adj" fmla="val 50000"/>
            </a:avLst>
          </a:prstGeom>
          <a:solidFill>
            <a:srgbClr val="8C93A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</a:rPr>
              <a:t>NO VIABLE</a:t>
            </a:r>
            <a:endParaRPr lang="en-US" sz="1000" dirty="0"/>
          </a:p>
        </p:txBody>
      </p:sp>
      <p:sp>
        <p:nvSpPr>
          <p:cNvPr id="30" name="Text E5"/>
          <p:cNvSpPr/>
          <p:nvPr/>
        </p:nvSpPr>
        <p:spPr>
          <a:xfrm>
            <a:off x="6850000" y="5080000"/>
            <a:ext cx="479336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 solo automatiza el seguimiento post-evento (OCR de tarjetas)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recomendadas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Nuevas fuentes tecnológicas para potenciar al Agente 1</a:t>
            </a:r>
            <a:endParaRPr lang="en-US" sz="2700" dirty="0"/>
          </a:p>
        </p:txBody>
      </p:sp>
      <p:sp>
        <p:nvSpPr>
          <p:cNvPr id="4" name="Card0"/>
          <p:cNvSpPr/>
          <p:nvPr/>
        </p:nvSpPr>
        <p:spPr>
          <a:xfrm>
            <a:off x="548640" y="1508760"/>
            <a:ext cx="5397360" cy="20445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Circ0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con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20240"/>
            <a:ext cx="411480" cy="411480"/>
          </a:xfrm>
          <a:prstGeom prst="rect">
            <a:avLst/>
          </a:prstGeom>
        </p:spPr>
      </p:pic>
      <p:sp>
        <p:nvSpPr>
          <p:cNvPr id="7" name="Title0"/>
          <p:cNvSpPr/>
          <p:nvPr/>
        </p:nvSpPr>
        <p:spPr>
          <a:xfrm>
            <a:off x="1737360" y="1783080"/>
            <a:ext cx="398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B2B e Inteligencia Comercial</a:t>
            </a:r>
            <a:endParaRPr lang="en-US" sz="1450" dirty="0"/>
          </a:p>
        </p:txBody>
      </p:sp>
      <p:sp>
        <p:nvSpPr>
          <p:cNvPr id="8" name="Sub0"/>
          <p:cNvSpPr/>
          <p:nvPr/>
        </p:nvSpPr>
        <p:spPr>
          <a:xfrm>
            <a:off x="1737360" y="2203080"/>
            <a:ext cx="398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i="1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Apollo.io · ZoomInfo · Clearbit</a:t>
            </a:r>
            <a:endParaRPr lang="en-US" sz="1050" dirty="0"/>
          </a:p>
        </p:txBody>
      </p:sp>
      <p:sp>
        <p:nvSpPr>
          <p:cNvPr id="9" name="Desc0"/>
          <p:cNvSpPr/>
          <p:nvPr/>
        </p:nvSpPr>
        <p:spPr>
          <a:xfrm>
            <a:off x="822960" y="2606040"/>
            <a:ext cx="4848720" cy="81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directa vía API para obtener organigramas, correos verificados y teléfonos directos, filtrando por industria, facturación y tamaño.</a:t>
            </a:r>
            <a:endParaRPr lang="en-US" sz="1150" dirty="0"/>
          </a:p>
        </p:txBody>
      </p:sp>
      <p:sp>
        <p:nvSpPr>
          <p:cNvPr id="10" name="Card1"/>
          <p:cNvSpPr/>
          <p:nvPr/>
        </p:nvSpPr>
        <p:spPr>
          <a:xfrm>
            <a:off x="6246000" y="1508760"/>
            <a:ext cx="5397360" cy="20445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Circ1"/>
          <p:cNvSpPr/>
          <p:nvPr/>
        </p:nvSpPr>
        <p:spPr>
          <a:xfrm>
            <a:off x="6520320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con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480" y="1920240"/>
            <a:ext cx="411480" cy="411480"/>
          </a:xfrm>
          <a:prstGeom prst="rect">
            <a:avLst/>
          </a:prstGeom>
        </p:spPr>
      </p:pic>
      <p:sp>
        <p:nvSpPr>
          <p:cNvPr id="13" name="Title1"/>
          <p:cNvSpPr/>
          <p:nvPr/>
        </p:nvSpPr>
        <p:spPr>
          <a:xfrm>
            <a:off x="7434720" y="1783080"/>
            <a:ext cx="398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intención de compra</a:t>
            </a:r>
            <a:endParaRPr lang="en-US" sz="1450" dirty="0"/>
          </a:p>
        </p:txBody>
      </p:sp>
      <p:sp>
        <p:nvSpPr>
          <p:cNvPr id="14" name="Sub1"/>
          <p:cNvSpPr/>
          <p:nvPr/>
        </p:nvSpPr>
        <p:spPr>
          <a:xfrm>
            <a:off x="7434720" y="2203080"/>
            <a:ext cx="398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i="1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boards · Intent data</a:t>
            </a:r>
            <a:endParaRPr lang="en-US" sz="1050" dirty="0"/>
          </a:p>
        </p:txBody>
      </p:sp>
      <p:sp>
        <p:nvSpPr>
          <p:cNvPr id="15" name="Desc1"/>
          <p:cNvSpPr/>
          <p:nvPr/>
        </p:nvSpPr>
        <p:spPr>
          <a:xfrm>
            <a:off x="6520320" y="2606040"/>
            <a:ext cx="4848720" cy="81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 portales de empleo (Indeed, Glassdoor); una vacante clave se detecta como trigger inmediato de venta.</a:t>
            </a:r>
            <a:endParaRPr lang="en-US" sz="1150" dirty="0"/>
          </a:p>
        </p:txBody>
      </p:sp>
      <p:sp>
        <p:nvSpPr>
          <p:cNvPr id="16" name="Card2"/>
          <p:cNvSpPr/>
          <p:nvPr/>
        </p:nvSpPr>
        <p:spPr>
          <a:xfrm>
            <a:off x="548640" y="3853320"/>
            <a:ext cx="5397360" cy="20445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Circ2"/>
          <p:cNvSpPr/>
          <p:nvPr/>
        </p:nvSpPr>
        <p:spPr>
          <a:xfrm>
            <a:off x="822960" y="4127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con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264800"/>
            <a:ext cx="411480" cy="411480"/>
          </a:xfrm>
          <a:prstGeom prst="rect">
            <a:avLst/>
          </a:prstGeom>
        </p:spPr>
      </p:pic>
      <p:sp>
        <p:nvSpPr>
          <p:cNvPr id="19" name="Title2"/>
          <p:cNvSpPr/>
          <p:nvPr/>
        </p:nvSpPr>
        <p:spPr>
          <a:xfrm>
            <a:off x="1737360" y="4127640"/>
            <a:ext cx="398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Repositorios oficiales y diarios legales</a:t>
            </a:r>
            <a:endParaRPr lang="en-US" sz="1450" dirty="0"/>
          </a:p>
        </p:txBody>
      </p:sp>
      <p:sp>
        <p:nvSpPr>
          <p:cNvPr id="20" name="Sub2"/>
          <p:cNvSpPr/>
          <p:nvPr/>
        </p:nvSpPr>
        <p:spPr>
          <a:xfrm>
            <a:off x="1737360" y="4547640"/>
            <a:ext cx="398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i="1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 · Gacetas estatales · Buró de Crédito</a:t>
            </a:r>
            <a:endParaRPr lang="en-US" sz="1050" dirty="0"/>
          </a:p>
        </p:txBody>
      </p:sp>
      <p:sp>
        <p:nvSpPr>
          <p:cNvPr id="21" name="Desc2"/>
          <p:cNvSpPr/>
          <p:nvPr/>
        </p:nvSpPr>
        <p:spPr>
          <a:xfrm>
            <a:off x="822960" y="4950600"/>
            <a:ext cx="4848720" cy="81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por keywords empresas recién constituidas, fusiones o adjudicaciones que requieren pólizas obligatorias.</a:t>
            </a:r>
            <a:endParaRPr lang="en-US" sz="1150" dirty="0"/>
          </a:p>
        </p:txBody>
      </p:sp>
      <p:sp>
        <p:nvSpPr>
          <p:cNvPr id="22" name="Card3"/>
          <p:cNvSpPr/>
          <p:nvPr/>
        </p:nvSpPr>
        <p:spPr>
          <a:xfrm>
            <a:off x="6246000" y="3853320"/>
            <a:ext cx="5397360" cy="20445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Circ3"/>
          <p:cNvSpPr/>
          <p:nvPr/>
        </p:nvSpPr>
        <p:spPr>
          <a:xfrm>
            <a:off x="6520320" y="4127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4" name="Icon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480" y="4264800"/>
            <a:ext cx="411480" cy="411480"/>
          </a:xfrm>
          <a:prstGeom prst="rect">
            <a:avLst/>
          </a:prstGeom>
        </p:spPr>
      </p:pic>
      <p:sp>
        <p:nvSpPr>
          <p:cNvPr id="25" name="Title3"/>
          <p:cNvSpPr/>
          <p:nvPr/>
        </p:nvSpPr>
        <p:spPr>
          <a:xfrm>
            <a:off x="7434720" y="4127640"/>
            <a:ext cx="398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Noticias económicas y financieras</a:t>
            </a:r>
            <a:endParaRPr lang="en-US" sz="1450" dirty="0"/>
          </a:p>
        </p:txBody>
      </p:sp>
      <p:sp>
        <p:nvSpPr>
          <p:cNvPr id="26" name="Sub3"/>
          <p:cNvSpPr/>
          <p:nvPr/>
        </p:nvSpPr>
        <p:spPr>
          <a:xfrm>
            <a:off x="7434720" y="4547640"/>
            <a:ext cx="398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i="1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Economista · Bloomberg · Forbes</a:t>
            </a:r>
            <a:endParaRPr lang="en-US" sz="1050" dirty="0"/>
          </a:p>
        </p:txBody>
      </p:sp>
      <p:sp>
        <p:nvSpPr>
          <p:cNvPr id="27" name="Desc3"/>
          <p:cNvSpPr/>
          <p:nvPr/>
        </p:nvSpPr>
        <p:spPr>
          <a:xfrm>
            <a:off x="6520320" y="4950600"/>
            <a:ext cx="4848720" cy="81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lenguaje natural sobre prensa para detectar rondas de inversión y expansiones geográficas.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pasos para pasar del planteamiento al piloto</a:t>
            </a:r>
            <a:endParaRPr lang="en-US" sz="2700" dirty="0"/>
          </a:p>
        </p:txBody>
      </p:sp>
      <p:sp>
        <p:nvSpPr>
          <p:cNvPr id="4" name="Card0"/>
          <p:cNvSpPr/>
          <p:nvPr/>
        </p:nvSpPr>
        <p:spPr>
          <a:xfrm>
            <a:off x="548640" y="1691640"/>
            <a:ext cx="3657600" cy="347472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Num0"/>
          <p:cNvSpPr/>
          <p:nvPr/>
        </p:nvSpPr>
        <p:spPr>
          <a:xfrm>
            <a:off x="822960" y="1965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itle0"/>
          <p:cNvSpPr/>
          <p:nvPr/>
        </p:nvSpPr>
        <p:spPr>
          <a:xfrm>
            <a:off x="822960" y="26659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la arquitectura de integración</a:t>
            </a:r>
            <a:endParaRPr lang="en-US" sz="1600" dirty="0"/>
          </a:p>
        </p:txBody>
      </p:sp>
      <p:sp>
        <p:nvSpPr>
          <p:cNvPr id="7" name="Div0"/>
          <p:cNvSpPr/>
          <p:nvPr/>
        </p:nvSpPr>
        <p:spPr>
          <a:xfrm>
            <a:off x="822960" y="3415960"/>
            <a:ext cx="310896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Desc0"/>
          <p:cNvSpPr/>
          <p:nvPr/>
        </p:nvSpPr>
        <p:spPr>
          <a:xfrm>
            <a:off x="822960" y="3553120"/>
            <a:ext cx="3108960" cy="133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área técnica: cómo se conectan los dos agentes con el CRM, LinkedIn y el correo corporativo.</a:t>
            </a:r>
            <a:endParaRPr lang="en-US" sz="1200" dirty="0"/>
          </a:p>
        </p:txBody>
      </p:sp>
      <p:sp>
        <p:nvSpPr>
          <p:cNvPr id="9" name="Card1"/>
          <p:cNvSpPr/>
          <p:nvPr/>
        </p:nvSpPr>
        <p:spPr>
          <a:xfrm>
            <a:off x="4462272" y="1691640"/>
            <a:ext cx="3657600" cy="347472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Num1"/>
          <p:cNvSpPr/>
          <p:nvPr/>
        </p:nvSpPr>
        <p:spPr>
          <a:xfrm>
            <a:off x="4736592" y="1965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itle1"/>
          <p:cNvSpPr/>
          <p:nvPr/>
        </p:nvSpPr>
        <p:spPr>
          <a:xfrm>
            <a:off x="4736592" y="26659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Establecer la línea base de métricas</a:t>
            </a:r>
            <a:endParaRPr lang="en-US" sz="1600" dirty="0"/>
          </a:p>
        </p:txBody>
      </p:sp>
      <p:sp>
        <p:nvSpPr>
          <p:cNvPr id="12" name="Div1"/>
          <p:cNvSpPr/>
          <p:nvPr/>
        </p:nvSpPr>
        <p:spPr>
          <a:xfrm>
            <a:off x="4736592" y="3415960"/>
            <a:ext cx="310896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Desc1"/>
          <p:cNvSpPr/>
          <p:nvPr/>
        </p:nvSpPr>
        <p:spPr>
          <a:xfrm>
            <a:off x="4736592" y="3553120"/>
            <a:ext cx="3108960" cy="133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Prospectos contactados al mes, tasa de respuesta y citas agendadas hoy, para poder medir el impacto después.</a:t>
            </a:r>
            <a:endParaRPr lang="en-US" sz="1200" dirty="0"/>
          </a:p>
        </p:txBody>
      </p:sp>
      <p:sp>
        <p:nvSpPr>
          <p:cNvPr id="14" name="Card2"/>
          <p:cNvSpPr/>
          <p:nvPr/>
        </p:nvSpPr>
        <p:spPr>
          <a:xfrm>
            <a:off x="8375904" y="1691640"/>
            <a:ext cx="3657600" cy="347472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Num2"/>
          <p:cNvSpPr/>
          <p:nvPr/>
        </p:nvSpPr>
        <p:spPr>
          <a:xfrm>
            <a:off x="8650224" y="1965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itle2"/>
          <p:cNvSpPr/>
          <p:nvPr/>
        </p:nvSpPr>
        <p:spPr>
          <a:xfrm>
            <a:off x="8650224" y="26659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el piloto inicial</a:t>
            </a:r>
            <a:endParaRPr lang="en-US" sz="1600" dirty="0"/>
          </a:p>
        </p:txBody>
      </p:sp>
      <p:sp>
        <p:nvSpPr>
          <p:cNvPr id="17" name="Div2"/>
          <p:cNvSpPr/>
          <p:nvPr/>
        </p:nvSpPr>
        <p:spPr>
          <a:xfrm>
            <a:off x="8650224" y="3415960"/>
            <a:ext cx="310896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Desc2"/>
          <p:cNvSpPr/>
          <p:nvPr/>
        </p:nvSpPr>
        <p:spPr>
          <a:xfrm>
            <a:off x="8650224" y="3553120"/>
            <a:ext cx="3108960" cy="133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por el Agente 1 (Hunter-Orquestador), antes de desplegar el Agente 2 (Supervisor).</a:t>
            </a:r>
            <a:endParaRPr lang="en-US" sz="1200" dirty="0"/>
          </a:p>
        </p:txBody>
      </p:sp>
      <p:sp>
        <p:nvSpPr>
          <p:cNvPr id="19" name="Footer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1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pasar de una propuesta funcional a un piloto medible en el corto plazo.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cambia con los agentes de IA?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😓  HOY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persona busca, contacta, agenda, cierra e implementa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prospección depende de cuánto tiempo le quede disponible al Hunter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contacto y seguimiento son manuales, mensaje por mensaje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agendamiento de citas consume tiempo que podría usarse en cerrar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reporte sistemático de efectividad del proceso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el volumen de alianzas solo es posible contratando más gente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  <a:effectLst>
            <a:outerShdw blurRad="1270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CON LOS AGENTES DE IA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Hunter-Orquestador prospecta de forma continua, sin límite de horas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de prospectos siempre está alimentado y actualizado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agente contacta, da seguimiento y sincroniza el CRM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cita queda agendada directo en la agenda del Hunter humano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Supervisor reporta efectividad y recuerda pendientes clave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Hunter humano enfoca su tiempo en cerrar e implementar alianzas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594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SO WHAT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Hunter humano deja de ser buscador y contactador,</a:t>
            </a:r>
            <a:endParaRPr lang="en-US" sz="2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se convierte en cerrador e implementador de alianzas.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27346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089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03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volumen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0965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prospectos contactados y citas agendadas al mes, sin sumar headcount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2834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27346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1089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703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 humano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0965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Hunter dedica su tiempo a negociar, cerrar e implementar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834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27346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1089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3703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Visibilidad total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12480" y="40965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Supervisor reporta efectividad sin seguimiento manual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Inter.mx  ·  Agentes de IA para Hunting de Alianzas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1053</Words>
  <Application>Microsoft Office PowerPoint</Application>
  <PresentationFormat>Panorámica</PresentationFormat>
  <Paragraphs>147</Paragraphs>
  <Slides>9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Agentes de IA para Hunting de Alianzas</dc:title>
  <dc:subject>PptxGenJS Presentation</dc:subject>
  <dc:creator>Inter.mx</dc:creator>
  <cp:lastModifiedBy>Maria Fernanda Rodriguez Alvarez</cp:lastModifiedBy>
  <cp:revision>2</cp:revision>
  <dcterms:created xsi:type="dcterms:W3CDTF">2026-07-08T14:28:08Z</dcterms:created>
  <dcterms:modified xsi:type="dcterms:W3CDTF">2026-08-05T22:58:24Z</dcterms:modified>
</cp:coreProperties>
</file>